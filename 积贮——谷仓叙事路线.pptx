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media/image13.webp" ContentType="image/webp"/>
  <Override PartName="/ppt/media/image32.webp" ContentType="image/webp"/>
  <Override PartName="/ppt/media/image40.webp" ContentType="image/webp"/>
  <Override PartName="/ppt/media/image41.webp" ContentType="image/webp"/>
  <Override PartName="/ppt/media/image5.webp" ContentType="image/webp"/>
  <Override PartName="/ppt/media/image7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24384000" cy="13716000"/>
  <p:notesSz cx="24384000" cy="13716000"/>
  <p:embeddedFontLst>
    <p:embeddedFont>
      <p:font typeface="MiSans" charset="-122"/>
      <p:regular r:id="rId21"/>
    </p:embeddedFont>
    <p:embeddedFont>
      <p:font typeface="Quattrocento Sans" panose="020B0502050000020003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C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webp"/><Relationship Id="rId7" Type="http://schemas.openxmlformats.org/officeDocument/2006/relationships/image" Target="../media/image6.jpeg"/><Relationship Id="rId6" Type="http://schemas.openxmlformats.org/officeDocument/2006/relationships/image" Target="../media/image5.webp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tags" Target="../tags/tag2.xml"/><Relationship Id="rId2" Type="http://schemas.openxmlformats.org/officeDocument/2006/relationships/image" Target="../media/image2.jpe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webp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png"/><Relationship Id="rId2" Type="http://schemas.openxmlformats.org/officeDocument/2006/relationships/image" Target="../media/image32.webp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5" Type="http://schemas.openxmlformats.org/officeDocument/2006/relationships/image" Target="../media/image41.webp"/><Relationship Id="rId4" Type="http://schemas.openxmlformats.org/officeDocument/2006/relationships/image" Target="../media/image40.webp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jpeg"/><Relationship Id="rId4" Type="http://schemas.openxmlformats.org/officeDocument/2006/relationships/image" Target="../media/image46.jpeg"/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image" Target="../media/image43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13.webp"/><Relationship Id="rId4" Type="http://schemas.openxmlformats.org/officeDocument/2006/relationships/image" Target="../media/image43.jpeg"/><Relationship Id="rId3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ircle-deco"/>
          <p:cNvSpPr/>
          <p:nvPr/>
        </p:nvSpPr>
        <p:spPr>
          <a:xfrm>
            <a:off x="8229600" y="8890000"/>
            <a:ext cx="2296160" cy="229616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4" name="main-title"/>
          <p:cNvSpPr txBox="1"/>
          <p:nvPr/>
        </p:nvSpPr>
        <p:spPr>
          <a:xfrm>
            <a:off x="2169160" y="6858000"/>
            <a:ext cx="12700000" cy="292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0" noProof="1">
                <a:solidFill>
                  <a:srgbClr val="393433"/>
                </a:solidFill>
                <a:latin typeface="思源宋体"/>
                <a:ea typeface="思源宋体"/>
              </a:rPr>
              <a:t>积</a:t>
            </a:r>
            <a:r>
              <a:rPr lang="en-US" sz="15000" noProof="1">
                <a:solidFill>
                  <a:srgbClr val="393433"/>
                </a:solidFill>
                <a:latin typeface="思源宋体"/>
                <a:ea typeface="思源宋体"/>
              </a:rPr>
              <a:t>贮.</a:t>
            </a:r>
            <a:endParaRPr lang="en-US" sz="1600" noProof="1"/>
          </a:p>
        </p:txBody>
      </p:sp>
      <p:sp>
        <p:nvSpPr>
          <p:cNvPr id="5" name="sub-title"/>
          <p:cNvSpPr txBox="1"/>
          <p:nvPr/>
        </p:nvSpPr>
        <p:spPr>
          <a:xfrm>
            <a:off x="2284730" y="101600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4400" noProof="1">
                <a:solidFill>
                  <a:srgbClr val="393433"/>
                </a:solidFill>
                <a:latin typeface="思源宋体"/>
                <a:ea typeface="思源宋体"/>
              </a:rPr>
              <a:t>—— 谷仓叙事路线</a:t>
            </a:r>
            <a:endParaRPr lang="en-US" sz="4400" noProof="1"/>
          </a:p>
        </p:txBody>
      </p:sp>
      <p:sp>
        <p:nvSpPr>
          <p:cNvPr id="6" name="slogan"/>
          <p:cNvSpPr txBox="1"/>
          <p:nvPr/>
        </p:nvSpPr>
        <p:spPr>
          <a:xfrm>
            <a:off x="2284730" y="11303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夫积贮者，天下之大命也 —— 贾谊《论积贮疏》 /</a:t>
            </a:r>
            <a:endParaRPr lang="en-US" sz="1800" noProof="1"/>
          </a:p>
        </p:txBody>
      </p:sp>
      <p:grpSp>
        <p:nvGrpSpPr>
          <p:cNvPr id="9" name="组合 8"/>
          <p:cNvGrpSpPr/>
          <p:nvPr/>
        </p:nvGrpSpPr>
        <p:grpSpPr>
          <a:xfrm>
            <a:off x="10905490" y="438785"/>
            <a:ext cx="13354050" cy="12403455"/>
            <a:chOff x="17174" y="691"/>
            <a:chExt cx="21030" cy="19533"/>
          </a:xfrm>
        </p:grpSpPr>
        <p:sp>
          <p:nvSpPr>
            <p:cNvPr id="7" name="等腰三角形 6"/>
            <p:cNvSpPr/>
            <p:nvPr/>
          </p:nvSpPr>
          <p:spPr>
            <a:xfrm>
              <a:off x="17174" y="691"/>
              <a:ext cx="21030" cy="10109"/>
            </a:xfrm>
            <a:prstGeom prst="triangle">
              <a:avLst/>
            </a:prstGeom>
            <a:solidFill>
              <a:srgbClr val="E7C37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500"/>
            </a:p>
          </p:txBody>
        </p:sp>
        <p:sp>
          <p:nvSpPr>
            <p:cNvPr id="8" name="矩形 7"/>
            <p:cNvSpPr/>
            <p:nvPr/>
          </p:nvSpPr>
          <p:spPr>
            <a:xfrm>
              <a:off x="19999" y="10800"/>
              <a:ext cx="15380" cy="9425"/>
            </a:xfrm>
            <a:prstGeom prst="rect">
              <a:avLst/>
            </a:prstGeom>
            <a:solidFill>
              <a:srgbClr val="E7C37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500"/>
            </a:p>
          </p:txBody>
        </p:sp>
      </p:grpSp>
      <p:pic>
        <p:nvPicPr>
          <p:cNvPr id="2" name="bg-curve"/>
          <p:cNvPicPr/>
          <p:nvPr/>
        </p:nvPicPr>
        <p:blipFill>
          <a:blip r:embed="rId1"/>
          <a:stretch>
            <a:fillRect/>
          </a:stretch>
        </p:blipFill>
        <p:spPr>
          <a:xfrm>
            <a:off x="2915285" y="-1170305"/>
            <a:ext cx="23472140" cy="14157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ellow-blob"/>
          <p:cNvSpPr/>
          <p:nvPr/>
        </p:nvSpPr>
        <p:spPr>
          <a:xfrm>
            <a:off x="-176530" y="-24130"/>
            <a:ext cx="19193510" cy="137795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3242" y="36"/>
                </a:moveTo>
                <a:cubicBezTo>
                  <a:pt x="13242" y="36"/>
                  <a:pt x="10054" y="122"/>
                  <a:pt x="10765" y="3874"/>
                </a:cubicBezTo>
                <a:cubicBezTo>
                  <a:pt x="11476" y="7625"/>
                  <a:pt x="14750" y="7115"/>
                  <a:pt x="13943" y="9855"/>
                </a:cubicBezTo>
                <a:cubicBezTo>
                  <a:pt x="13135" y="12596"/>
                  <a:pt x="9833" y="17227"/>
                  <a:pt x="11209" y="18906"/>
                </a:cubicBezTo>
                <a:cubicBezTo>
                  <a:pt x="12584" y="20585"/>
                  <a:pt x="18946" y="13730"/>
                  <a:pt x="20035" y="17300"/>
                </a:cubicBezTo>
                <a:cubicBezTo>
                  <a:pt x="21125" y="20870"/>
                  <a:pt x="21600" y="21562"/>
                  <a:pt x="21600" y="21562"/>
                </a:cubicBezTo>
                <a:lnTo>
                  <a:pt x="24" y="21600"/>
                </a:lnTo>
                <a:lnTo>
                  <a:pt x="0" y="0"/>
                </a:lnTo>
                <a:lnTo>
                  <a:pt x="13242" y="36"/>
                </a:lnTo>
                <a:close/>
              </a:path>
            </a:pathLst>
          </a:custGeom>
          <a:solidFill>
            <a:srgbClr val="E9BF68">
              <a:alpha val="85098"/>
            </a:srgbClr>
          </a:solidFill>
          <a:ln>
            <a:noFill/>
          </a:ln>
        </p:spPr>
      </p:sp>
      <p:sp>
        <p:nvSpPr>
          <p:cNvPr id="3" name="toc-title"/>
          <p:cNvSpPr txBox="1"/>
          <p:nvPr/>
        </p:nvSpPr>
        <p:spPr>
          <a:xfrm>
            <a:off x="1774190" y="5069840"/>
            <a:ext cx="8216900" cy="349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2000" noProof="1">
                <a:solidFill>
                  <a:srgbClr val="393433"/>
                </a:solidFill>
                <a:latin typeface="思源宋体"/>
                <a:ea typeface="思源宋体"/>
              </a:rPr>
              <a:t>目</a:t>
            </a:r>
            <a:r>
              <a:rPr lang="en-US" sz="15000" noProof="1">
                <a:solidFill>
                  <a:srgbClr val="393433"/>
                </a:solidFill>
                <a:latin typeface="思源宋体"/>
                <a:ea typeface="思源宋体"/>
              </a:rPr>
              <a:t>录.</a:t>
            </a:r>
            <a:endParaRPr lang="en-US" sz="1600" noProof="1"/>
          </a:p>
        </p:txBody>
      </p:sp>
      <p:sp>
        <p:nvSpPr>
          <p:cNvPr id="4" name="toc-sub"/>
          <p:cNvSpPr txBox="1"/>
          <p:nvPr/>
        </p:nvSpPr>
        <p:spPr>
          <a:xfrm>
            <a:off x="4240530" y="591058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kern="0" spc="24" noProof="1">
                <a:solidFill>
                  <a:srgbClr val="393433"/>
                </a:solidFill>
                <a:latin typeface="MiSans" charset="-122"/>
                <a:ea typeface="MiSans" charset="-122"/>
              </a:rPr>
              <a:t>/ 一颗谷子只做两件事：进去，出来 /</a:t>
            </a:r>
            <a:endParaRPr lang="en-US" sz="1800" noProof="1"/>
          </a:p>
        </p:txBody>
      </p:sp>
      <p:sp>
        <p:nvSpPr>
          <p:cNvPr id="5" name="num-1"/>
          <p:cNvSpPr txBox="1"/>
          <p:nvPr/>
        </p:nvSpPr>
        <p:spPr>
          <a:xfrm>
            <a:off x="12249150" y="4828540"/>
            <a:ext cx="11684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7000" noProof="1">
                <a:solidFill>
                  <a:srgbClr val="393433"/>
                </a:solidFill>
                <a:latin typeface="Quattrocento Sans" panose="020B0502050000020003"/>
                <a:ea typeface="Quattrocento Sans" panose="020B0502050000020003"/>
              </a:rPr>
              <a:t>1</a:t>
            </a:r>
            <a:endParaRPr lang="en-US" sz="17000" noProof="1"/>
          </a:p>
        </p:txBody>
      </p:sp>
      <p:sp>
        <p:nvSpPr>
          <p:cNvPr id="6" name="word-1"/>
          <p:cNvSpPr txBox="1"/>
          <p:nvPr/>
        </p:nvSpPr>
        <p:spPr>
          <a:xfrm>
            <a:off x="13290550" y="4384040"/>
            <a:ext cx="38100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600" noProof="1">
                <a:solidFill>
                  <a:srgbClr val="393433"/>
                </a:solidFill>
                <a:latin typeface="思源宋体"/>
                <a:ea typeface="思源宋体"/>
              </a:rPr>
              <a:t>总线索</a:t>
            </a:r>
            <a:endParaRPr lang="en-US" sz="5600" noProof="1"/>
          </a:p>
        </p:txBody>
      </p:sp>
      <p:sp>
        <p:nvSpPr>
          <p:cNvPr id="7" name="desc-1"/>
          <p:cNvSpPr txBox="1"/>
          <p:nvPr/>
        </p:nvSpPr>
        <p:spPr>
          <a:xfrm>
            <a:off x="13303250" y="552958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入口 → 收 → 放 → 尾厅 /</a:t>
            </a:r>
            <a:endParaRPr lang="en-US" sz="1800" noProof="1"/>
          </a:p>
        </p:txBody>
      </p:sp>
      <p:sp>
        <p:nvSpPr>
          <p:cNvPr id="8" name="num-2"/>
          <p:cNvSpPr txBox="1"/>
          <p:nvPr/>
        </p:nvSpPr>
        <p:spPr>
          <a:xfrm>
            <a:off x="18395950" y="4828540"/>
            <a:ext cx="11684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7000" noProof="1">
                <a:solidFill>
                  <a:srgbClr val="393433"/>
                </a:solidFill>
                <a:latin typeface="Quattrocento Sans" panose="020B0502050000020003"/>
                <a:ea typeface="Quattrocento Sans" panose="020B0502050000020003"/>
              </a:rPr>
              <a:t>2</a:t>
            </a:r>
            <a:endParaRPr lang="en-US" sz="17000" noProof="1"/>
          </a:p>
        </p:txBody>
      </p:sp>
      <p:sp>
        <p:nvSpPr>
          <p:cNvPr id="9" name="word-2"/>
          <p:cNvSpPr txBox="1"/>
          <p:nvPr/>
        </p:nvSpPr>
        <p:spPr>
          <a:xfrm>
            <a:off x="19437350" y="4384040"/>
            <a:ext cx="38100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600" noProof="1">
                <a:solidFill>
                  <a:srgbClr val="393433"/>
                </a:solidFill>
                <a:latin typeface="思源宋体"/>
                <a:ea typeface="思源宋体"/>
              </a:rPr>
              <a:t>收</a:t>
            </a:r>
            <a:endParaRPr lang="en-US" sz="5600" noProof="1"/>
          </a:p>
        </p:txBody>
      </p:sp>
      <p:sp>
        <p:nvSpPr>
          <p:cNvPr id="10" name="desc-2"/>
          <p:cNvSpPr txBox="1"/>
          <p:nvPr/>
        </p:nvSpPr>
        <p:spPr>
          <a:xfrm>
            <a:off x="19450050" y="552958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物有所容：聚 · 藏 /</a:t>
            </a:r>
            <a:endParaRPr lang="en-US" sz="1800" noProof="1"/>
          </a:p>
        </p:txBody>
      </p:sp>
      <p:sp>
        <p:nvSpPr>
          <p:cNvPr id="11" name="num-3"/>
          <p:cNvSpPr txBox="1"/>
          <p:nvPr/>
        </p:nvSpPr>
        <p:spPr>
          <a:xfrm>
            <a:off x="12350750" y="8009890"/>
            <a:ext cx="11684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7000" noProof="1">
                <a:solidFill>
                  <a:srgbClr val="393433"/>
                </a:solidFill>
                <a:latin typeface="Quattrocento Sans" panose="020B0502050000020003"/>
                <a:ea typeface="Quattrocento Sans" panose="020B0502050000020003"/>
              </a:rPr>
              <a:t>3</a:t>
            </a:r>
            <a:endParaRPr lang="en-US" sz="17000" noProof="1"/>
          </a:p>
        </p:txBody>
      </p:sp>
      <p:sp>
        <p:nvSpPr>
          <p:cNvPr id="12" name="word-3"/>
          <p:cNvSpPr txBox="1"/>
          <p:nvPr/>
        </p:nvSpPr>
        <p:spPr>
          <a:xfrm>
            <a:off x="13392150" y="7565390"/>
            <a:ext cx="38100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600" noProof="1">
                <a:solidFill>
                  <a:srgbClr val="393433"/>
                </a:solidFill>
                <a:latin typeface="思源宋体"/>
                <a:ea typeface="思源宋体"/>
              </a:rPr>
              <a:t>放</a:t>
            </a:r>
            <a:endParaRPr lang="en-US" sz="5600" noProof="1"/>
          </a:p>
        </p:txBody>
      </p:sp>
      <p:sp>
        <p:nvSpPr>
          <p:cNvPr id="13" name="desc-3"/>
          <p:cNvSpPr txBox="1"/>
          <p:nvPr/>
        </p:nvSpPr>
        <p:spPr>
          <a:xfrm>
            <a:off x="13404850" y="871093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物有所去：开 · 散 /</a:t>
            </a:r>
            <a:endParaRPr lang="en-US" sz="1800" noProof="1"/>
          </a:p>
        </p:txBody>
      </p:sp>
      <p:sp>
        <p:nvSpPr>
          <p:cNvPr id="14" name="num-4"/>
          <p:cNvSpPr txBox="1"/>
          <p:nvPr/>
        </p:nvSpPr>
        <p:spPr>
          <a:xfrm>
            <a:off x="18395950" y="8009890"/>
            <a:ext cx="11684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7000" noProof="1">
                <a:solidFill>
                  <a:srgbClr val="393433"/>
                </a:solidFill>
                <a:latin typeface="Quattrocento Sans" panose="020B0502050000020003"/>
                <a:ea typeface="Quattrocento Sans" panose="020B0502050000020003"/>
              </a:rPr>
              <a:t>4</a:t>
            </a:r>
            <a:endParaRPr lang="en-US" sz="17000" noProof="1"/>
          </a:p>
        </p:txBody>
      </p:sp>
      <p:sp>
        <p:nvSpPr>
          <p:cNvPr id="15" name="word-4"/>
          <p:cNvSpPr txBox="1"/>
          <p:nvPr/>
        </p:nvSpPr>
        <p:spPr>
          <a:xfrm>
            <a:off x="19437350" y="7565390"/>
            <a:ext cx="4318000" cy="116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5600" noProof="1">
                <a:solidFill>
                  <a:srgbClr val="393433"/>
                </a:solidFill>
                <a:latin typeface="思源宋体"/>
                <a:ea typeface="思源宋体"/>
              </a:rPr>
              <a:t>收放之间</a:t>
            </a:r>
            <a:endParaRPr lang="en-US" sz="5600" noProof="1"/>
          </a:p>
        </p:txBody>
      </p:sp>
      <p:sp>
        <p:nvSpPr>
          <p:cNvPr id="16" name="desc-4"/>
          <p:cNvSpPr txBox="1"/>
          <p:nvPr/>
        </p:nvSpPr>
        <p:spPr>
          <a:xfrm>
            <a:off x="19450050" y="871093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尾厅 /</a:t>
            </a:r>
            <a:endParaRPr lang="en-US" sz="1800" noProof="1"/>
          </a:p>
        </p:txBody>
      </p:sp>
      <p:sp>
        <p:nvSpPr>
          <p:cNvPr id="17" name="dot-1"/>
          <p:cNvSpPr/>
          <p:nvPr/>
        </p:nvSpPr>
        <p:spPr>
          <a:xfrm>
            <a:off x="17526000" y="5019040"/>
            <a:ext cx="635000" cy="63500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18" name="dot-2"/>
          <p:cNvSpPr/>
          <p:nvPr/>
        </p:nvSpPr>
        <p:spPr>
          <a:xfrm>
            <a:off x="23241000" y="4003040"/>
            <a:ext cx="635000" cy="63500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19" name="dot-3"/>
          <p:cNvSpPr/>
          <p:nvPr/>
        </p:nvSpPr>
        <p:spPr>
          <a:xfrm>
            <a:off x="17526000" y="8130540"/>
            <a:ext cx="635000" cy="63500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20" name="dot-4"/>
          <p:cNvSpPr/>
          <p:nvPr/>
        </p:nvSpPr>
        <p:spPr>
          <a:xfrm>
            <a:off x="23241000" y="7190740"/>
            <a:ext cx="635000" cy="63500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3135630" y="2730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题解 · 导览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3135630" y="3175000"/>
            <a:ext cx="7874000" cy="238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5000" noProof="1">
                <a:solidFill>
                  <a:srgbClr val="393433"/>
                </a:solidFill>
                <a:latin typeface="思源宋体"/>
                <a:ea typeface="思源宋体"/>
              </a:rPr>
              <a:t>总</a:t>
            </a:r>
            <a:r>
              <a:rPr lang="en-US" sz="10000" noProof="1">
                <a:solidFill>
                  <a:srgbClr val="393433"/>
                </a:solidFill>
                <a:latin typeface="思源宋体"/>
                <a:ea typeface="思源宋体"/>
              </a:rPr>
              <a:t>线索</a:t>
            </a:r>
            <a:endParaRPr lang="en-US" sz="1600" noProof="1"/>
          </a:p>
        </p:txBody>
      </p:sp>
      <p:sp>
        <p:nvSpPr>
          <p:cNvPr id="4" name="para-1"/>
          <p:cNvSpPr txBox="1"/>
          <p:nvPr/>
        </p:nvSpPr>
        <p:spPr>
          <a:xfrm>
            <a:off x="3097530" y="5969000"/>
            <a:ext cx="736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8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积贮，出自贾谊《论积贮疏》："夫积贮者，天下之大命也。"收进来是积，放出去是贮的用处。</a:t>
            </a:r>
            <a:endParaRPr lang="en-US" sz="1800" noProof="1"/>
          </a:p>
        </p:txBody>
      </p:sp>
      <p:sp>
        <p:nvSpPr>
          <p:cNvPr id="5" name="para-2"/>
          <p:cNvSpPr txBox="1"/>
          <p:nvPr/>
        </p:nvSpPr>
        <p:spPr>
          <a:xfrm>
            <a:off x="3097530" y="7747000"/>
            <a:ext cx="736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8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一颗谷子只做两件事：进去，出来。一座谷仓也只做两件事：收住，放下。全展按二分法展开：收 / 放，尾厅点"收放之间"。</a:t>
            </a:r>
            <a:endParaRPr lang="en-US" sz="1800" noProof="1"/>
          </a:p>
        </p:txBody>
      </p:sp>
      <p:sp>
        <p:nvSpPr>
          <p:cNvPr id="6" name="para-3"/>
          <p:cNvSpPr txBox="1"/>
          <p:nvPr/>
        </p:nvSpPr>
        <p:spPr>
          <a:xfrm>
            <a:off x="3097530" y="9906000"/>
            <a:ext cx="7366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8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没有哪座谷仓是为了好看建的。满仓的画面，从田里就开始。观众从狭窄、低照度、向心收束的空间进入，先读到两个字：收。</a:t>
            </a:r>
            <a:endParaRPr lang="en-US" sz="1800" noProof="1"/>
          </a:p>
        </p:txBody>
      </p:sp>
      <p:sp>
        <p:nvSpPr>
          <p:cNvPr id="7" name="bar-1"/>
          <p:cNvSpPr/>
          <p:nvPr/>
        </p:nvSpPr>
        <p:spPr>
          <a:xfrm>
            <a:off x="11430000" y="3556000"/>
            <a:ext cx="1905000" cy="5588000"/>
          </a:xfrm>
          <a:prstGeom prst="rect">
            <a:avLst/>
          </a:prstGeom>
          <a:solidFill>
            <a:srgbClr val="393534">
              <a:alpha val="64706"/>
            </a:srgbClr>
          </a:solidFill>
          <a:ln>
            <a:noFill/>
          </a:ln>
        </p:spPr>
      </p:sp>
      <p:sp>
        <p:nvSpPr>
          <p:cNvPr id="8" name="bar-1-label"/>
          <p:cNvSpPr txBox="1"/>
          <p:nvPr/>
        </p:nvSpPr>
        <p:spPr>
          <a:xfrm>
            <a:off x="11430000" y="3556000"/>
            <a:ext cx="1905000" cy="5588000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E4D5C7"/>
                </a:solidFill>
                <a:latin typeface="思源宋体"/>
                <a:ea typeface="思源宋体"/>
              </a:rPr>
              <a:t>入口</a:t>
            </a:r>
            <a:endParaRPr lang="en-US" sz="2600" noProof="1"/>
          </a:p>
        </p:txBody>
      </p:sp>
      <p:sp>
        <p:nvSpPr>
          <p:cNvPr id="9" name="bar-2"/>
          <p:cNvSpPr/>
          <p:nvPr/>
        </p:nvSpPr>
        <p:spPr>
          <a:xfrm>
            <a:off x="13525500" y="3556000"/>
            <a:ext cx="1905000" cy="5588000"/>
          </a:xfrm>
          <a:prstGeom prst="rect">
            <a:avLst/>
          </a:prstGeom>
          <a:solidFill>
            <a:srgbClr val="E7BF69">
              <a:alpha val="64706"/>
            </a:srgbClr>
          </a:solidFill>
          <a:ln>
            <a:noFill/>
          </a:ln>
        </p:spPr>
      </p:sp>
      <p:sp>
        <p:nvSpPr>
          <p:cNvPr id="10" name="bar-2-label"/>
          <p:cNvSpPr txBox="1"/>
          <p:nvPr/>
        </p:nvSpPr>
        <p:spPr>
          <a:xfrm>
            <a:off x="13525500" y="3556000"/>
            <a:ext cx="1905000" cy="5588000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393433"/>
                </a:solidFill>
                <a:latin typeface="思源宋体"/>
                <a:ea typeface="思源宋体"/>
              </a:rPr>
              <a:t>收 · 聚</a:t>
            </a:r>
            <a:endParaRPr lang="en-US" sz="2600" noProof="1"/>
          </a:p>
        </p:txBody>
      </p:sp>
      <p:sp>
        <p:nvSpPr>
          <p:cNvPr id="11" name="bar-2-note"/>
          <p:cNvSpPr txBox="1"/>
          <p:nvPr/>
        </p:nvSpPr>
        <p:spPr>
          <a:xfrm>
            <a:off x="13335000" y="93345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汇入</a:t>
            </a: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集纳</a:t>
            </a:r>
            <a:endParaRPr lang="en-US" sz="1600" noProof="1"/>
          </a:p>
        </p:txBody>
      </p:sp>
      <p:sp>
        <p:nvSpPr>
          <p:cNvPr id="12" name="bar-3"/>
          <p:cNvSpPr/>
          <p:nvPr/>
        </p:nvSpPr>
        <p:spPr>
          <a:xfrm>
            <a:off x="15621000" y="3556000"/>
            <a:ext cx="1905000" cy="5588000"/>
          </a:xfrm>
          <a:prstGeom prst="rect">
            <a:avLst/>
          </a:prstGeom>
          <a:solidFill>
            <a:srgbClr val="765C4A">
              <a:alpha val="64706"/>
            </a:srgbClr>
          </a:solidFill>
          <a:ln>
            <a:noFill/>
          </a:ln>
        </p:spPr>
      </p:sp>
      <p:sp>
        <p:nvSpPr>
          <p:cNvPr id="13" name="bar-3-label"/>
          <p:cNvSpPr txBox="1"/>
          <p:nvPr/>
        </p:nvSpPr>
        <p:spPr>
          <a:xfrm>
            <a:off x="15621000" y="3556000"/>
            <a:ext cx="1905000" cy="5588000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E4D5C7"/>
                </a:solidFill>
                <a:latin typeface="思源宋体"/>
                <a:ea typeface="思源宋体"/>
              </a:rPr>
              <a:t>收 · 藏</a:t>
            </a:r>
            <a:endParaRPr lang="en-US" sz="2600" noProof="1"/>
          </a:p>
        </p:txBody>
      </p:sp>
      <p:sp>
        <p:nvSpPr>
          <p:cNvPr id="14" name="bar-3-note"/>
          <p:cNvSpPr txBox="1"/>
          <p:nvPr/>
        </p:nvSpPr>
        <p:spPr>
          <a:xfrm>
            <a:off x="15430500" y="93345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沉淀</a:t>
            </a: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封存</a:t>
            </a:r>
            <a:endParaRPr lang="en-US" sz="1600" noProof="1"/>
          </a:p>
        </p:txBody>
      </p:sp>
      <p:sp>
        <p:nvSpPr>
          <p:cNvPr id="15" name="bar-4"/>
          <p:cNvSpPr/>
          <p:nvPr/>
        </p:nvSpPr>
        <p:spPr>
          <a:xfrm>
            <a:off x="17716500" y="3556000"/>
            <a:ext cx="1905000" cy="5588000"/>
          </a:xfrm>
          <a:prstGeom prst="rect">
            <a:avLst/>
          </a:prstGeom>
          <a:solidFill>
            <a:srgbClr val="E7BF69">
              <a:alpha val="64706"/>
            </a:srgbClr>
          </a:solidFill>
          <a:ln>
            <a:noFill/>
          </a:ln>
        </p:spPr>
      </p:sp>
      <p:sp>
        <p:nvSpPr>
          <p:cNvPr id="16" name="bar-4-label"/>
          <p:cNvSpPr txBox="1"/>
          <p:nvPr/>
        </p:nvSpPr>
        <p:spPr>
          <a:xfrm>
            <a:off x="17716500" y="3556000"/>
            <a:ext cx="1905000" cy="5588000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393433"/>
                </a:solidFill>
                <a:latin typeface="思源宋体"/>
                <a:ea typeface="思源宋体"/>
              </a:rPr>
              <a:t>放 · 开</a:t>
            </a:r>
            <a:endParaRPr lang="en-US" sz="2600" noProof="1"/>
          </a:p>
        </p:txBody>
      </p:sp>
      <p:sp>
        <p:nvSpPr>
          <p:cNvPr id="17" name="bar-4-note"/>
          <p:cNvSpPr txBox="1"/>
          <p:nvPr/>
        </p:nvSpPr>
        <p:spPr>
          <a:xfrm>
            <a:off x="17526000" y="93345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启仓</a:t>
            </a: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转折</a:t>
            </a:r>
            <a:endParaRPr lang="en-US" sz="1600" noProof="1"/>
          </a:p>
        </p:txBody>
      </p:sp>
      <p:sp>
        <p:nvSpPr>
          <p:cNvPr id="18" name="bar-5"/>
          <p:cNvSpPr/>
          <p:nvPr/>
        </p:nvSpPr>
        <p:spPr>
          <a:xfrm>
            <a:off x="19812000" y="3556000"/>
            <a:ext cx="1905000" cy="5588000"/>
          </a:xfrm>
          <a:prstGeom prst="rect">
            <a:avLst/>
          </a:prstGeom>
          <a:solidFill>
            <a:srgbClr val="765C4A">
              <a:alpha val="64706"/>
            </a:srgbClr>
          </a:solidFill>
          <a:ln>
            <a:noFill/>
          </a:ln>
        </p:spPr>
      </p:sp>
      <p:sp>
        <p:nvSpPr>
          <p:cNvPr id="19" name="bar-5-label"/>
          <p:cNvSpPr txBox="1"/>
          <p:nvPr/>
        </p:nvSpPr>
        <p:spPr>
          <a:xfrm>
            <a:off x="19812000" y="3556000"/>
            <a:ext cx="1905000" cy="5588000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E4D5C7"/>
                </a:solidFill>
                <a:latin typeface="思源宋体"/>
                <a:ea typeface="思源宋体"/>
              </a:rPr>
              <a:t>放 · 散</a:t>
            </a:r>
            <a:endParaRPr lang="en-US" sz="2600" noProof="1"/>
          </a:p>
        </p:txBody>
      </p:sp>
      <p:sp>
        <p:nvSpPr>
          <p:cNvPr id="20" name="bar-5-note"/>
          <p:cNvSpPr txBox="1"/>
          <p:nvPr/>
        </p:nvSpPr>
        <p:spPr>
          <a:xfrm>
            <a:off x="19621500" y="93345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流出</a:t>
            </a: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分配</a:t>
            </a:r>
            <a:endParaRPr lang="en-US" sz="1600" noProof="1"/>
          </a:p>
        </p:txBody>
      </p:sp>
      <p:sp>
        <p:nvSpPr>
          <p:cNvPr id="21" name="bar-6"/>
          <p:cNvSpPr/>
          <p:nvPr/>
        </p:nvSpPr>
        <p:spPr>
          <a:xfrm>
            <a:off x="21907500" y="3556000"/>
            <a:ext cx="1905000" cy="5588000"/>
          </a:xfrm>
          <a:prstGeom prst="rect">
            <a:avLst/>
          </a:prstGeom>
          <a:solidFill>
            <a:srgbClr val="393534">
              <a:alpha val="64706"/>
            </a:srgbClr>
          </a:solidFill>
          <a:ln>
            <a:noFill/>
          </a:ln>
        </p:spPr>
      </p:sp>
      <p:sp>
        <p:nvSpPr>
          <p:cNvPr id="22" name="bar-6-label"/>
          <p:cNvSpPr txBox="1"/>
          <p:nvPr/>
        </p:nvSpPr>
        <p:spPr>
          <a:xfrm>
            <a:off x="21907500" y="3556000"/>
            <a:ext cx="1905000" cy="5588000"/>
          </a:xfrm>
          <a:prstGeom prst="rect">
            <a:avLst/>
          </a:prstGeom>
          <a:noFill/>
          <a:ln>
            <a:noFill/>
          </a:ln>
        </p:spPr>
        <p:txBody>
          <a:bodyPr vert="eaVert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noProof="1">
                <a:solidFill>
                  <a:srgbClr val="E4D5C7"/>
                </a:solidFill>
                <a:latin typeface="思源宋体"/>
                <a:ea typeface="思源宋体"/>
              </a:rPr>
              <a:t>尾厅</a:t>
            </a:r>
            <a:endParaRPr lang="en-US" sz="2600" noProof="1"/>
          </a:p>
        </p:txBody>
      </p:sp>
      <p:sp>
        <p:nvSpPr>
          <p:cNvPr id="23" name="bar-6-note"/>
          <p:cNvSpPr txBox="1"/>
          <p:nvPr/>
        </p:nvSpPr>
        <p:spPr>
          <a:xfrm>
            <a:off x="21717000" y="9334500"/>
            <a:ext cx="228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收放之间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deco"/>
          <p:cNvSpPr/>
          <p:nvPr/>
        </p:nvSpPr>
        <p:spPr>
          <a:xfrm>
            <a:off x="11043920" y="3810000"/>
            <a:ext cx="2296160" cy="229616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3" name="big-char"/>
          <p:cNvSpPr txBox="1"/>
          <p:nvPr/>
        </p:nvSpPr>
        <p:spPr>
          <a:xfrm>
            <a:off x="9652000" y="3556000"/>
            <a:ext cx="5080000" cy="50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0" noProof="1">
                <a:solidFill>
                  <a:srgbClr val="393433"/>
                </a:solidFill>
                <a:latin typeface="思源宋体"/>
                <a:ea typeface="思源宋体"/>
              </a:rPr>
              <a:t>收</a:t>
            </a:r>
            <a:endParaRPr lang="en-US" sz="32000" noProof="1"/>
          </a:p>
        </p:txBody>
      </p:sp>
      <p:sp>
        <p:nvSpPr>
          <p:cNvPr id="4" name="sec-sub"/>
          <p:cNvSpPr txBox="1"/>
          <p:nvPr/>
        </p:nvSpPr>
        <p:spPr>
          <a:xfrm>
            <a:off x="15494000" y="5334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600" noProof="1">
                <a:solidFill>
                  <a:srgbClr val="765D4A"/>
                </a:solidFill>
                <a:latin typeface="思源宋体"/>
                <a:ea typeface="思源宋体"/>
              </a:rPr>
              <a:t>聚 · 藏</a:t>
            </a:r>
            <a:endParaRPr lang="en-US" sz="3600" noProof="1"/>
          </a:p>
        </p:txBody>
      </p:sp>
      <p:sp>
        <p:nvSpPr>
          <p:cNvPr id="5" name="sec-slogan"/>
          <p:cNvSpPr txBox="1"/>
          <p:nvPr/>
        </p:nvSpPr>
        <p:spPr>
          <a:xfrm>
            <a:off x="5842000" y="9271000"/>
            <a:ext cx="1270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物有所容 —— 把不确定变成确定，让收进来的东西有地方待 /</a:t>
            </a:r>
            <a:endParaRPr lang="en-US" sz="2000" noProof="1"/>
          </a:p>
        </p:txBody>
      </p:sp>
      <p:sp>
        <p:nvSpPr>
          <p:cNvPr id="6" name="sec-note"/>
          <p:cNvSpPr txBox="1"/>
          <p:nvPr/>
        </p:nvSpPr>
        <p:spPr>
          <a:xfrm>
            <a:off x="7112000" y="99695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空间气质：封闭 · 窄口 · 低照度 · 向心收束</a:t>
            </a:r>
            <a:endParaRPr lang="en-US" sz="16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收 · 聚 —— 把田里、民间、国家的粮汇到一处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汇入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没有哪座谷仓是为了好看建的，满仓的画面从田里就开始。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收割是“入仓”前的最后一环——讲“粮怎么进来”，也讲“人怎么许愿”：谷仓是最早的愿望容器。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勃鲁盖尔《收割者》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1565，大都会博物馆；另有同题异本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梵高与莫奈的干草堆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梵高《干草垛》1888；莫奈《干草堆》1890—91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《耕织图》“入仓”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南宋楼璹；康熙御制、陈枚版同题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东汉“纳粮画像砖”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四川广汉；和林格尔、旬邑汉墓壁画同见仓储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《诗经》里的仓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《丰年》“亦有高廪”，《甫田》“乃求千斯仓”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曾巩《丰年有高廪》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“高廪积连延”——满仓是最早的年景愿望</a:t>
            </a:r>
            <a:endParaRPr lang="en-US" sz="1300" noProof="1"/>
          </a:p>
        </p:txBody>
      </p:sp>
      <p:pic>
        <p:nvPicPr>
          <p:cNvPr id="109" name="图片 10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r="14965"/>
          <a:stretch>
            <a:fillRect/>
          </a:stretch>
        </p:blipFill>
        <p:spPr>
          <a:xfrm>
            <a:off x="3415030" y="3249930"/>
            <a:ext cx="3849370" cy="386842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1360"/>
          <a:stretch>
            <a:fillRect/>
          </a:stretch>
        </p:blipFill>
        <p:spPr>
          <a:xfrm>
            <a:off x="10261600" y="3238500"/>
            <a:ext cx="3906520" cy="392493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5"/>
          <a:srcRect t="22179"/>
          <a:stretch>
            <a:fillRect/>
          </a:stretch>
        </p:blipFill>
        <p:spPr>
          <a:xfrm>
            <a:off x="17106900" y="3258820"/>
            <a:ext cx="3885565" cy="384556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030" y="8365490"/>
            <a:ext cx="3827780" cy="39211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/>
          <a:srcRect r="47486"/>
          <a:stretch>
            <a:fillRect/>
          </a:stretch>
        </p:blipFill>
        <p:spPr>
          <a:xfrm>
            <a:off x="10261600" y="8375015"/>
            <a:ext cx="3906520" cy="3832860"/>
          </a:xfrm>
          <a:prstGeom prst="rect">
            <a:avLst/>
          </a:prstGeom>
        </p:spPr>
      </p:pic>
      <p:pic>
        <p:nvPicPr>
          <p:cNvPr id="180" name="图片 179"/>
          <p:cNvPicPr>
            <a:picLocks noChangeAspect="1"/>
          </p:cNvPicPr>
          <p:nvPr/>
        </p:nvPicPr>
        <p:blipFill>
          <a:blip r:embed="rId8"/>
          <a:srcRect l="860"/>
          <a:stretch>
            <a:fillRect/>
          </a:stretch>
        </p:blipFill>
        <p:spPr>
          <a:xfrm>
            <a:off x="17112615" y="8382000"/>
            <a:ext cx="3879850" cy="3891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收 · 聚 —— 从零散汇成大盘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集纳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收是有数的。收多少是本事，收完给谁，是良心。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从民间汇到国家——“收放”两个字最早的出处不在书里，在制度里。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李悝平籴法（战国魏）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丰年按等级收进、荒年放出，“取有余而补不足”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常平仓（前54年）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耿寿昌建议设立：谷贱籴入、谷贵粜出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《管子》轻重敛散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粮价低时敛藏、粮价高时散放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洛阳含嘉仓（605年）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大运河终点“天下第一仓”，400余座仓窖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界埠粮仓遗址（战国）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赣江水运旁的大型粮仓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青瓷谷仓罐（魂瓶）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为逝者构筑的“永恒谷仓”，事死如事生</a:t>
            </a:r>
            <a:endParaRPr lang="en-US" sz="1300" noProof="1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r="9522"/>
          <a:stretch>
            <a:fillRect/>
          </a:stretch>
        </p:blipFill>
        <p:spPr>
          <a:xfrm>
            <a:off x="3403600" y="3244215"/>
            <a:ext cx="3873500" cy="3900170"/>
          </a:xfrm>
          <a:prstGeom prst="rect">
            <a:avLst/>
          </a:prstGeom>
        </p:spPr>
      </p:pic>
      <p:graphicFrame>
        <p:nvGraphicFramePr>
          <p:cNvPr id="31" name="表格 30"/>
          <p:cNvGraphicFramePr/>
          <p:nvPr/>
        </p:nvGraphicFramePr>
        <p:xfrm>
          <a:off x="10720070" y="5196840"/>
          <a:ext cx="2943860" cy="3322320"/>
        </p:xfrm>
        <a:graphic>
          <a:graphicData uri="http://schemas.openxmlformats.org/drawingml/2006/table">
            <a:tbl>
              <a:tblPr/>
              <a:tblGrid>
                <a:gridCol w="2943860"/>
              </a:tblGrid>
              <a:tr h="3322320">
                <a:tc>
                  <a:txBody>
                    <a:bodyPr/>
                    <a:p/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2" name="图片_13"/>
          <p:cNvPicPr>
            <a:picLocks noChangeAspect="1"/>
          </p:cNvPicPr>
          <p:nvPr/>
        </p:nvPicPr>
        <p:blipFill>
          <a:blip r:embed="rId2"/>
          <a:srcRect l="22137"/>
          <a:stretch>
            <a:fillRect/>
          </a:stretch>
        </p:blipFill>
        <p:spPr>
          <a:xfrm>
            <a:off x="10262235" y="3200400"/>
            <a:ext cx="3872865" cy="3906520"/>
          </a:xfrm>
          <a:prstGeom prst="rect">
            <a:avLst/>
          </a:prstGeom>
        </p:spPr>
      </p:pic>
      <p:pic>
        <p:nvPicPr>
          <p:cNvPr id="173" name="图片 172"/>
          <p:cNvPicPr>
            <a:picLocks noChangeAspect="1"/>
          </p:cNvPicPr>
          <p:nvPr/>
        </p:nvPicPr>
        <p:blipFill>
          <a:blip r:embed="rId3"/>
          <a:srcRect t="15800" b="16290"/>
          <a:stretch>
            <a:fillRect/>
          </a:stretch>
        </p:blipFill>
        <p:spPr>
          <a:xfrm>
            <a:off x="17106900" y="3244215"/>
            <a:ext cx="3872865" cy="3872865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4"/>
          <a:srcRect r="10492"/>
          <a:stretch>
            <a:fillRect/>
          </a:stretch>
        </p:blipFill>
        <p:spPr>
          <a:xfrm>
            <a:off x="3403600" y="8382000"/>
            <a:ext cx="3873500" cy="386842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rcRect r="18742" b="1472"/>
          <a:stretch>
            <a:fillRect/>
          </a:stretch>
        </p:blipFill>
        <p:spPr>
          <a:xfrm>
            <a:off x="10262235" y="8382000"/>
            <a:ext cx="3870960" cy="386651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6"/>
          <a:srcRect l="7181" r="6814"/>
          <a:stretch>
            <a:fillRect/>
          </a:stretch>
        </p:blipFill>
        <p:spPr>
          <a:xfrm>
            <a:off x="17119600" y="8382000"/>
            <a:ext cx="3863340" cy="3872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收 · 藏 —— 让粮食穿越时间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沉淀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最好的谷仓是看不见的谷仓。藏的终极成果，是穿越时间。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粮食沉入时间、沉入地下。藏得越深越安全，也越黑。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黄土高原窑洞粮窖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粮食藏进大地的肚子里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含嘉仓炭化粟米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在窖中沉睡千年仍可辨形，时间的胶囊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斯瓦尔巴全球种子库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2008，当代诺亚方舟，重启窑洞逻辑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冰岛草皮谷仓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草皮覆顶、半埋冻土，建筑主动消隐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中国土圆仓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“圆，无门可攻”，如今在场院里日渐消逝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海子《黑夜的献诗》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“太黑暗，太寂静，太丰收，也太荒凉”</a:t>
            </a:r>
            <a:endParaRPr lang="en-US" sz="1300" noProof="1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t="20581"/>
          <a:stretch>
            <a:fillRect/>
          </a:stretch>
        </p:blipFill>
        <p:spPr>
          <a:xfrm>
            <a:off x="3403600" y="3234055"/>
            <a:ext cx="3860800" cy="387413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rcRect l="16113" r="15879"/>
          <a:stretch>
            <a:fillRect/>
          </a:stretch>
        </p:blipFill>
        <p:spPr>
          <a:xfrm>
            <a:off x="10262235" y="3249930"/>
            <a:ext cx="3872865" cy="3837305"/>
          </a:xfrm>
          <a:prstGeom prst="rect">
            <a:avLst/>
          </a:prstGeom>
        </p:spPr>
      </p:pic>
      <p:pic>
        <p:nvPicPr>
          <p:cNvPr id="136" name="图片 135"/>
          <p:cNvPicPr>
            <a:picLocks noChangeAspect="1"/>
          </p:cNvPicPr>
          <p:nvPr/>
        </p:nvPicPr>
        <p:blipFill>
          <a:blip r:embed="rId3"/>
          <a:srcRect r="14828"/>
          <a:stretch>
            <a:fillRect/>
          </a:stretch>
        </p:blipFill>
        <p:spPr>
          <a:xfrm>
            <a:off x="17132300" y="3249930"/>
            <a:ext cx="3862705" cy="3864610"/>
          </a:xfrm>
          <a:prstGeom prst="rect">
            <a:avLst/>
          </a:prstGeom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4"/>
          <a:srcRect l="3290" r="27649"/>
          <a:stretch>
            <a:fillRect/>
          </a:stretch>
        </p:blipFill>
        <p:spPr>
          <a:xfrm>
            <a:off x="3411855" y="8382000"/>
            <a:ext cx="3865245" cy="3899535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5"/>
          <a:srcRect r="6775"/>
          <a:stretch>
            <a:fillRect/>
          </a:stretch>
        </p:blipFill>
        <p:spPr>
          <a:xfrm>
            <a:off x="10262235" y="8382000"/>
            <a:ext cx="3870960" cy="3902710"/>
          </a:xfrm>
          <a:prstGeom prst="rect">
            <a:avLst/>
          </a:prstGeom>
        </p:spPr>
      </p:pic>
      <p:pic>
        <p:nvPicPr>
          <p:cNvPr id="192" name="图片 191"/>
          <p:cNvPicPr>
            <a:picLocks noChangeAspect="1"/>
          </p:cNvPicPr>
          <p:nvPr/>
        </p:nvPicPr>
        <p:blipFill>
          <a:blip r:embed="rId6"/>
          <a:srcRect t="8664" b="18998"/>
          <a:stretch>
            <a:fillRect/>
          </a:stretch>
        </p:blipFill>
        <p:spPr>
          <a:xfrm>
            <a:off x="17106900" y="8378190"/>
            <a:ext cx="3895090" cy="3907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收 · 藏 —— 受控的交换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封存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封存不是封死，藏的本质是“受控的交换”。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物理上封住——防鼠、防潮、防人；但仓壁也开始留缝，为尾厅点题。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苗侗吊脚粮仓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仓体悬空、仓下流水，立体的护城河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挪威储粮屋 Stabbur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独立石柱、石帽防鼠，外挂木梯用完即收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北美银行谷仓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顺坡而建，土方挡寒，把重力变成盟友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烟草烘干仓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可开合的墙板，精准控温控湿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板条玉米仓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仓壁从“墙”退化成“滤网”：风穿过，鼠止步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>
              <a:alpha val="20000"/>
            </a:srgbClr>
          </a:solidFill>
          <a:ln w="19050">
            <a:solidFill>
              <a:srgbClr val="765D4A"/>
            </a:solidFill>
            <a:prstDash val="dash"/>
          </a:ln>
        </p:spPr>
      </p:sp>
      <p:sp>
        <p:nvSpPr>
          <p:cNvPr id="27" name="img-6-label"/>
          <p:cNvSpPr txBox="1"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noProof="1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l="19278" r="15721"/>
          <a:stretch>
            <a:fillRect/>
          </a:stretch>
        </p:blipFill>
        <p:spPr>
          <a:xfrm>
            <a:off x="3399790" y="3253105"/>
            <a:ext cx="3864610" cy="384365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rcRect l="5938"/>
          <a:stretch>
            <a:fillRect/>
          </a:stretch>
        </p:blipFill>
        <p:spPr>
          <a:xfrm>
            <a:off x="10262235" y="3238500"/>
            <a:ext cx="3872865" cy="385508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l="14064" r="1136"/>
          <a:stretch>
            <a:fillRect/>
          </a:stretch>
        </p:blipFill>
        <p:spPr>
          <a:xfrm>
            <a:off x="17106900" y="3253105"/>
            <a:ext cx="3886200" cy="3868420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4"/>
          <a:srcRect l="2880" r="27266"/>
          <a:stretch>
            <a:fillRect/>
          </a:stretch>
        </p:blipFill>
        <p:spPr>
          <a:xfrm>
            <a:off x="3411855" y="8382000"/>
            <a:ext cx="3865245" cy="3882390"/>
          </a:xfrm>
          <a:prstGeom prst="rect">
            <a:avLst/>
          </a:prstGeom>
        </p:spPr>
      </p:pic>
      <p:pic>
        <p:nvPicPr>
          <p:cNvPr id="99" name="图片 98"/>
          <p:cNvPicPr>
            <a:picLocks noChangeAspect="1"/>
          </p:cNvPicPr>
          <p:nvPr/>
        </p:nvPicPr>
        <p:blipFill>
          <a:blip r:embed="rId5"/>
          <a:srcRect l="2100" r="14751"/>
          <a:stretch>
            <a:fillRect/>
          </a:stretch>
        </p:blipFill>
        <p:spPr>
          <a:xfrm>
            <a:off x="10262235" y="8382000"/>
            <a:ext cx="3872865" cy="3895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-deco"/>
          <p:cNvSpPr/>
          <p:nvPr/>
        </p:nvSpPr>
        <p:spPr>
          <a:xfrm>
            <a:off x="11043920" y="3810000"/>
            <a:ext cx="2296160" cy="229616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3" name="big-char"/>
          <p:cNvSpPr txBox="1"/>
          <p:nvPr/>
        </p:nvSpPr>
        <p:spPr>
          <a:xfrm>
            <a:off x="9652000" y="3556000"/>
            <a:ext cx="5080000" cy="50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0" noProof="1">
                <a:solidFill>
                  <a:srgbClr val="393433"/>
                </a:solidFill>
                <a:latin typeface="思源宋体"/>
                <a:ea typeface="思源宋体"/>
              </a:rPr>
              <a:t>放</a:t>
            </a:r>
            <a:endParaRPr lang="en-US" sz="32000" noProof="1"/>
          </a:p>
        </p:txBody>
      </p:sp>
      <p:sp>
        <p:nvSpPr>
          <p:cNvPr id="4" name="sec-sub"/>
          <p:cNvSpPr txBox="1"/>
          <p:nvPr/>
        </p:nvSpPr>
        <p:spPr>
          <a:xfrm>
            <a:off x="15494000" y="5334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600" noProof="1">
                <a:solidFill>
                  <a:srgbClr val="765D4A"/>
                </a:solidFill>
                <a:latin typeface="思源宋体"/>
                <a:ea typeface="思源宋体"/>
              </a:rPr>
              <a:t>开 · 散</a:t>
            </a:r>
            <a:endParaRPr lang="en-US" sz="3600" noProof="1"/>
          </a:p>
        </p:txBody>
      </p:sp>
      <p:sp>
        <p:nvSpPr>
          <p:cNvPr id="5" name="sec-slogan"/>
          <p:cNvSpPr txBox="1"/>
          <p:nvPr/>
        </p:nvSpPr>
        <p:spPr>
          <a:xfrm>
            <a:off x="5842000" y="9271000"/>
            <a:ext cx="1270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物有所去 —— 仓不是终点站，放不出来，囤多少都是零 /</a:t>
            </a:r>
            <a:endParaRPr lang="en-US" sz="2000" noProof="1"/>
          </a:p>
        </p:txBody>
      </p:sp>
      <p:sp>
        <p:nvSpPr>
          <p:cNvPr id="6" name="sec-note"/>
          <p:cNvSpPr txBox="1"/>
          <p:nvPr/>
        </p:nvSpPr>
        <p:spPr>
          <a:xfrm>
            <a:off x="7112000" y="99695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空间气质：开敞 · 高亮 · 大开口 · 线性通道</a:t>
            </a:r>
            <a:endParaRPr lang="en-US" sz="16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放 · 开 —— 仓门打开，粮食开始移动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启仓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一条运河，就是一根把粮从南送到北的食管。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地名“禄米仓”就是活档案——启仓不只是动作，也是制度。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含嘉仓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大运河终点的“天下第一仓”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黎阳仓遗址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大运河水脊上的国家粮仓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武清十四仓遗址（元）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漕运仓储的完整基址；京畿漕仓体系南粮北运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北京“京通十三仓”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每年百万石漕粮的入仓口粮走廊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义仓社仓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荒年放粮，制度化的“放给彼此”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贡庆余《瓦岗军分粮》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开仓分粮的画面记忆</a:t>
            </a:r>
            <a:endParaRPr lang="en-US" sz="1300" noProof="1"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/>
          <a:srcRect l="5582" r="6862"/>
          <a:stretch>
            <a:fillRect/>
          </a:stretch>
        </p:blipFill>
        <p:spPr>
          <a:xfrm>
            <a:off x="3399790" y="3238500"/>
            <a:ext cx="3864610" cy="3874135"/>
          </a:xfrm>
          <a:prstGeom prst="rect">
            <a:avLst/>
          </a:prstGeom>
        </p:spPr>
      </p:pic>
      <p:pic>
        <p:nvPicPr>
          <p:cNvPr id="133" name="图片 132"/>
          <p:cNvPicPr>
            <a:picLocks noChangeAspect="1"/>
          </p:cNvPicPr>
          <p:nvPr/>
        </p:nvPicPr>
        <p:blipFill>
          <a:blip r:embed="rId2"/>
          <a:srcRect l="7942" r="8829"/>
          <a:stretch>
            <a:fillRect/>
          </a:stretch>
        </p:blipFill>
        <p:spPr>
          <a:xfrm>
            <a:off x="10262235" y="3238500"/>
            <a:ext cx="3872865" cy="3868420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>
          <a:blip r:embed="rId3"/>
          <a:srcRect r="12988"/>
          <a:stretch>
            <a:fillRect/>
          </a:stretch>
        </p:blipFill>
        <p:spPr>
          <a:xfrm>
            <a:off x="17132300" y="3238500"/>
            <a:ext cx="3862705" cy="3875405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4"/>
          <a:srcRect l="3724" r="27367"/>
          <a:stretch>
            <a:fillRect/>
          </a:stretch>
        </p:blipFill>
        <p:spPr>
          <a:xfrm>
            <a:off x="3399790" y="8382000"/>
            <a:ext cx="3877310" cy="386524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rcRect l="4025" r="16517"/>
          <a:stretch>
            <a:fillRect/>
          </a:stretch>
        </p:blipFill>
        <p:spPr>
          <a:xfrm>
            <a:off x="10249535" y="8382000"/>
            <a:ext cx="3885565" cy="392493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6"/>
          <a:srcRect l="11438" t="402" r="24859" b="11940"/>
          <a:stretch>
            <a:fillRect/>
          </a:stretch>
        </p:blipFill>
        <p:spPr>
          <a:xfrm>
            <a:off x="17106900" y="8382000"/>
            <a:ext cx="3876040" cy="3878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放 · 开 —— 放大与断裂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转折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运输和工业把仓放大，也可能一断就崩。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运粮的脑洞、工业的放大、放不出来的代价。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乌巢烧粮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官渡之战的转折点：火烧屯粮，一战定局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zh-CN" alt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国家粮食储备体系·中储粮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zh-CN" alt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从土木到混凝土筒仓群</a:t>
            </a:r>
            <a:endParaRPr lang="zh-CN" altLang="en-US" sz="1300" noProof="1">
              <a:solidFill>
                <a:srgbClr val="765D4A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《水浒传》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梁山的存续靠对粮仓与运输线的控制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抗战军粮仓储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征实、转运与战争动员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北美谷物升降机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草原摩天楼；中储粮走向混凝土筒仓群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“筒仓效应”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组织囤信息只进不出——人和粮食一样，囤到自闭</a:t>
            </a:r>
            <a:endParaRPr lang="en-US" sz="1300" noProof="1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rcRect b="23874"/>
          <a:stretch>
            <a:fillRect/>
          </a:stretch>
        </p:blipFill>
        <p:spPr>
          <a:xfrm>
            <a:off x="3390900" y="3241675"/>
            <a:ext cx="3873500" cy="3875405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2"/>
          <a:srcRect l="9663" t="3098" r="8538" b="3082"/>
          <a:stretch>
            <a:fillRect/>
          </a:stretch>
        </p:blipFill>
        <p:spPr>
          <a:xfrm>
            <a:off x="17119600" y="3234055"/>
            <a:ext cx="3863340" cy="3870325"/>
          </a:xfrm>
          <a:prstGeom prst="rect">
            <a:avLst/>
          </a:prstGeom>
        </p:spPr>
      </p:pic>
      <p:pic>
        <p:nvPicPr>
          <p:cNvPr id="31" name="图片_8"/>
          <p:cNvPicPr>
            <a:picLocks noChangeAspect="1"/>
          </p:cNvPicPr>
          <p:nvPr/>
        </p:nvPicPr>
        <p:blipFill>
          <a:blip r:embed="rId3"/>
          <a:srcRect l="22564" r="5227"/>
          <a:stretch>
            <a:fillRect/>
          </a:stretch>
        </p:blipFill>
        <p:spPr>
          <a:xfrm>
            <a:off x="3387090" y="8394065"/>
            <a:ext cx="3877310" cy="388366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 l="8347" r="12228" b="6318"/>
          <a:stretch>
            <a:fillRect/>
          </a:stretch>
        </p:blipFill>
        <p:spPr>
          <a:xfrm>
            <a:off x="10262235" y="8394065"/>
            <a:ext cx="3872865" cy="387921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5"/>
          <a:srcRect t="16846" b="8374"/>
          <a:stretch>
            <a:fillRect/>
          </a:stretch>
        </p:blipFill>
        <p:spPr>
          <a:xfrm>
            <a:off x="17132935" y="8382000"/>
            <a:ext cx="3858260" cy="3878580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6"/>
          <a:srcRect t="5665" r="17196"/>
          <a:stretch>
            <a:fillRect/>
          </a:stretch>
        </p:blipFill>
        <p:spPr>
          <a:xfrm>
            <a:off x="10262235" y="3234055"/>
            <a:ext cx="3870960" cy="38703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放 · 散 —— 粮食流散到人间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流出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仓是满的，田边还有人在弯腰捡穗子。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不喊口号，只摆事实——仓可以更大，命不由仓做主。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李绅《悯农》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“四海无闲田，农夫犹饿死”；《伐檀》“胡取禾三百廪兮”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米勒《拾穗者》（1857）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丰盈麦垛反衬佝偻背影，谷仓是分配的无声证人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曹邺《官仓鼠》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“官仓老鼠大如斗，见人开仓亦不走”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《史记·平准书》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“太仓之粟陈陈相因……至腐败不可食”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乌进孝交租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《红楼梦》贵族之仓与庄户之仓的落差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粮票与农业税终结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统购统销1953—1993；2006年“皇粮国税”画上句号</a:t>
            </a:r>
            <a:endParaRPr lang="en-US" sz="1300" noProof="1"/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1"/>
          <a:srcRect t="8804" b="34588"/>
          <a:stretch>
            <a:fillRect/>
          </a:stretch>
        </p:blipFill>
        <p:spPr>
          <a:xfrm>
            <a:off x="3403600" y="3238500"/>
            <a:ext cx="3878580" cy="3878580"/>
          </a:xfrm>
          <a:prstGeom prst="rect">
            <a:avLst/>
          </a:prstGeom>
        </p:spPr>
      </p:pic>
      <p:pic>
        <p:nvPicPr>
          <p:cNvPr id="152" name="图片 151"/>
          <p:cNvPicPr>
            <a:picLocks noChangeAspect="1"/>
          </p:cNvPicPr>
          <p:nvPr/>
        </p:nvPicPr>
        <p:blipFill>
          <a:blip r:embed="rId2"/>
          <a:srcRect l="1601" r="25931"/>
          <a:stretch>
            <a:fillRect/>
          </a:stretch>
        </p:blipFill>
        <p:spPr>
          <a:xfrm>
            <a:off x="10261600" y="3227070"/>
            <a:ext cx="3881120" cy="38989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b="11124"/>
          <a:stretch>
            <a:fillRect/>
          </a:stretch>
        </p:blipFill>
        <p:spPr>
          <a:xfrm>
            <a:off x="17114520" y="3237865"/>
            <a:ext cx="3866515" cy="389128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rcRect l="3231" t="9281" r="7195" b="19861"/>
          <a:stretch>
            <a:fillRect/>
          </a:stretch>
        </p:blipFill>
        <p:spPr>
          <a:xfrm>
            <a:off x="3403600" y="8382000"/>
            <a:ext cx="3873500" cy="3878580"/>
          </a:xfrm>
          <a:prstGeom prst="rect">
            <a:avLst/>
          </a:prstGeom>
        </p:spPr>
      </p:pic>
      <p:pic>
        <p:nvPicPr>
          <p:cNvPr id="156" name="图片 155"/>
          <p:cNvPicPr>
            <a:picLocks noChangeAspect="1"/>
          </p:cNvPicPr>
          <p:nvPr/>
        </p:nvPicPr>
        <p:blipFill>
          <a:blip r:embed="rId5"/>
          <a:srcRect r="14681"/>
          <a:stretch>
            <a:fillRect/>
          </a:stretch>
        </p:blipFill>
        <p:spPr>
          <a:xfrm>
            <a:off x="10261600" y="8414385"/>
            <a:ext cx="3878580" cy="3891915"/>
          </a:xfrm>
          <a:prstGeom prst="rect">
            <a:avLst/>
          </a:prstGeom>
        </p:spPr>
      </p:pic>
      <p:pic>
        <p:nvPicPr>
          <p:cNvPr id="151" name="图片 150"/>
          <p:cNvPicPr>
            <a:picLocks noChangeAspect="1"/>
          </p:cNvPicPr>
          <p:nvPr/>
        </p:nvPicPr>
        <p:blipFill>
          <a:blip r:embed="rId6"/>
          <a:srcRect t="25984"/>
          <a:stretch>
            <a:fillRect/>
          </a:stretch>
        </p:blipFill>
        <p:spPr>
          <a:xfrm>
            <a:off x="17119600" y="8390255"/>
            <a:ext cx="3855085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kicker"/>
          <p:cNvSpPr txBox="1"/>
          <p:nvPr/>
        </p:nvSpPr>
        <p:spPr>
          <a:xfrm>
            <a:off x="5842000" y="457200"/>
            <a:ext cx="1270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放 · 散 —— 谷仓功能散作他用 /</a:t>
            </a:r>
            <a:endParaRPr lang="en-US" sz="1800" noProof="1"/>
          </a:p>
        </p:txBody>
      </p:sp>
      <p:sp>
        <p:nvSpPr>
          <p:cNvPr id="3" name="page-title"/>
          <p:cNvSpPr txBox="1"/>
          <p:nvPr/>
        </p:nvSpPr>
        <p:spPr>
          <a:xfrm>
            <a:off x="9652000" y="7874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noProof="1">
                <a:solidFill>
                  <a:srgbClr val="393433"/>
                </a:solidFill>
                <a:latin typeface="思源宋体"/>
                <a:ea typeface="思源宋体"/>
              </a:rPr>
              <a:t>分配</a:t>
            </a:r>
            <a:endParaRPr lang="en-US" sz="8800" noProof="1"/>
          </a:p>
        </p:txBody>
      </p:sp>
      <p:sp>
        <p:nvSpPr>
          <p:cNvPr id="4" name="para-lead"/>
          <p:cNvSpPr txBox="1"/>
          <p:nvPr/>
        </p:nvSpPr>
        <p:spPr>
          <a:xfrm>
            <a:off x="4572000" y="2235200"/>
            <a:ext cx="152400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noProof="1">
                <a:solidFill>
                  <a:srgbClr val="393433"/>
                </a:solidFill>
                <a:latin typeface="思源宋体"/>
                <a:ea typeface="思源宋体"/>
              </a:rPr>
              <a:t>谷仓最好的下场，不是被供起来，是被接着用。</a:t>
            </a:r>
            <a:endParaRPr lang="en-US" sz="2200" noProof="1"/>
          </a:p>
        </p:txBody>
      </p:sp>
      <p:sp>
        <p:nvSpPr>
          <p:cNvPr id="5" name="para-sub"/>
          <p:cNvSpPr txBox="1"/>
          <p:nvPr/>
        </p:nvSpPr>
        <p:spPr>
          <a:xfrm>
            <a:off x="4572000" y="2717800"/>
            <a:ext cx="152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放给彼此，仓是大家的——收的尽头不是囤积，是放给彼此。</a:t>
            </a:r>
            <a:endParaRPr lang="en-US" sz="1600" noProof="1"/>
          </a:p>
        </p:txBody>
      </p:sp>
      <p:sp>
        <p:nvSpPr>
          <p:cNvPr id="6" name="img-1"/>
          <p:cNvSpPr/>
          <p:nvPr/>
        </p:nvSpPr>
        <p:spPr>
          <a:xfrm>
            <a:off x="3403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7" name="img-1-icon"/>
          <p:cNvSpPr/>
          <p:nvPr/>
        </p:nvSpPr>
        <p:spPr>
          <a:xfrm>
            <a:off x="4978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8" name="name-1"/>
          <p:cNvSpPr txBox="1"/>
          <p:nvPr/>
        </p:nvSpPr>
        <p:spPr>
          <a:xfrm>
            <a:off x="3403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开仓与共建</a:t>
            </a:r>
            <a:endParaRPr lang="en-US" sz="2000" noProof="1"/>
          </a:p>
        </p:txBody>
      </p:sp>
      <p:sp>
        <p:nvSpPr>
          <p:cNvPr id="9" name="desc-1"/>
          <p:cNvSpPr txBox="1"/>
          <p:nvPr/>
        </p:nvSpPr>
        <p:spPr>
          <a:xfrm>
            <a:off x="3403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北美谷仓共建会：全屯出工，一天立起一座谷仓</a:t>
            </a:r>
            <a:endParaRPr lang="en-US" sz="1300" noProof="1"/>
          </a:p>
        </p:txBody>
      </p:sp>
      <p:sp>
        <p:nvSpPr>
          <p:cNvPr id="10" name="img-2"/>
          <p:cNvSpPr/>
          <p:nvPr/>
        </p:nvSpPr>
        <p:spPr>
          <a:xfrm>
            <a:off x="10261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1" name="img-2-icon"/>
          <p:cNvSpPr/>
          <p:nvPr/>
        </p:nvSpPr>
        <p:spPr>
          <a:xfrm>
            <a:off x="11836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2" name="name-2"/>
          <p:cNvSpPr txBox="1"/>
          <p:nvPr/>
        </p:nvSpPr>
        <p:spPr>
          <a:xfrm>
            <a:off x="10261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装艺术</a:t>
            </a:r>
            <a:endParaRPr lang="en-US" sz="2000" noProof="1"/>
          </a:p>
        </p:txBody>
      </p:sp>
      <p:sp>
        <p:nvSpPr>
          <p:cNvPr id="13" name="desc-2"/>
          <p:cNvSpPr txBox="1"/>
          <p:nvPr/>
        </p:nvSpPr>
        <p:spPr>
          <a:xfrm>
            <a:off x="10261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杭州米仓艺术中心：1864年粮油仓库的当代转身</a:t>
            </a:r>
            <a:endParaRPr lang="en-US" sz="1300" noProof="1"/>
          </a:p>
        </p:txBody>
      </p:sp>
      <p:sp>
        <p:nvSpPr>
          <p:cNvPr id="14" name="img-3"/>
          <p:cNvSpPr/>
          <p:nvPr/>
        </p:nvSpPr>
        <p:spPr>
          <a:xfrm>
            <a:off x="17119600" y="32385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5" name="img-3-icon"/>
          <p:cNvSpPr/>
          <p:nvPr/>
        </p:nvSpPr>
        <p:spPr>
          <a:xfrm>
            <a:off x="18694400" y="48133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16" name="name-3"/>
          <p:cNvSpPr txBox="1"/>
          <p:nvPr/>
        </p:nvSpPr>
        <p:spPr>
          <a:xfrm>
            <a:off x="17119600" y="72136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装生活</a:t>
            </a:r>
            <a:endParaRPr lang="en-US" sz="2000" noProof="1"/>
          </a:p>
        </p:txBody>
      </p:sp>
      <p:sp>
        <p:nvSpPr>
          <p:cNvPr id="17" name="desc-3"/>
          <p:cNvSpPr txBox="1"/>
          <p:nvPr/>
        </p:nvSpPr>
        <p:spPr>
          <a:xfrm>
            <a:off x="17119600" y="76454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谷仓民宿、谷仓市集、婚礼谷仓、丹灶稻田咖啡</a:t>
            </a:r>
            <a:endParaRPr lang="en-US" sz="1300" noProof="1"/>
          </a:p>
        </p:txBody>
      </p:sp>
      <p:sp>
        <p:nvSpPr>
          <p:cNvPr id="18" name="img-4"/>
          <p:cNvSpPr/>
          <p:nvPr/>
        </p:nvSpPr>
        <p:spPr>
          <a:xfrm>
            <a:off x="3403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19" name="img-4-icon"/>
          <p:cNvSpPr/>
          <p:nvPr/>
        </p:nvSpPr>
        <p:spPr>
          <a:xfrm>
            <a:off x="4978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0" name="name-4"/>
          <p:cNvSpPr txBox="1"/>
          <p:nvPr/>
        </p:nvSpPr>
        <p:spPr>
          <a:xfrm>
            <a:off x="3403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装热闹</a:t>
            </a:r>
            <a:endParaRPr lang="en-US" sz="2000" noProof="1"/>
          </a:p>
        </p:txBody>
      </p:sp>
      <p:sp>
        <p:nvSpPr>
          <p:cNvPr id="21" name="desc-4"/>
          <p:cNvSpPr txBox="1"/>
          <p:nvPr/>
        </p:nvSpPr>
        <p:spPr>
          <a:xfrm>
            <a:off x="3403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谷仓舞广播、被子步道、谷仓改教堂</a:t>
            </a:r>
            <a:endParaRPr lang="en-US" sz="1300" noProof="1"/>
          </a:p>
        </p:txBody>
      </p:sp>
      <p:sp>
        <p:nvSpPr>
          <p:cNvPr id="22" name="img-5"/>
          <p:cNvSpPr/>
          <p:nvPr/>
        </p:nvSpPr>
        <p:spPr>
          <a:xfrm>
            <a:off x="10261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3" name="img-5-icon"/>
          <p:cNvSpPr/>
          <p:nvPr/>
        </p:nvSpPr>
        <p:spPr>
          <a:xfrm>
            <a:off x="11836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4" name="name-5"/>
          <p:cNvSpPr txBox="1"/>
          <p:nvPr/>
        </p:nvSpPr>
        <p:spPr>
          <a:xfrm>
            <a:off x="10261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装故事</a:t>
            </a:r>
            <a:endParaRPr lang="en-US" sz="2000" noProof="1"/>
          </a:p>
        </p:txBody>
      </p:sp>
      <p:sp>
        <p:nvSpPr>
          <p:cNvPr id="25" name="desc-5"/>
          <p:cNvSpPr txBox="1"/>
          <p:nvPr/>
        </p:nvSpPr>
        <p:spPr>
          <a:xfrm>
            <a:off x="10261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谷仓发现、费雪小红谷仓、肯特农场</a:t>
            </a:r>
            <a:endParaRPr lang="en-US" sz="1300" noProof="1"/>
          </a:p>
        </p:txBody>
      </p:sp>
      <p:sp>
        <p:nvSpPr>
          <p:cNvPr id="26" name="img-6"/>
          <p:cNvSpPr/>
          <p:nvPr/>
        </p:nvSpPr>
        <p:spPr>
          <a:xfrm>
            <a:off x="17119600" y="8382000"/>
            <a:ext cx="3873500" cy="3873500"/>
          </a:xfrm>
          <a:prstGeom prst="rect">
            <a:avLst/>
          </a:prstGeom>
          <a:solidFill>
            <a:srgbClr val="A79C92"/>
          </a:solidFill>
          <a:ln>
            <a:noFill/>
          </a:ln>
        </p:spPr>
      </p:sp>
      <p:sp>
        <p:nvSpPr>
          <p:cNvPr id="27" name="img-6-icon"/>
          <p:cNvSpPr/>
          <p:nvPr/>
        </p:nvSpPr>
        <p:spPr>
          <a:xfrm>
            <a:off x="18694400" y="9956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128" y="112"/>
                </a:moveTo>
                <a:cubicBezTo>
                  <a:pt x="155" y="112"/>
                  <a:pt x="176" y="133"/>
                  <a:pt x="176" y="160"/>
                </a:cubicBezTo>
                <a:cubicBezTo>
                  <a:pt x="176" y="187"/>
                  <a:pt x="155" y="208"/>
                  <a:pt x="128" y="208"/>
                </a:cubicBezTo>
                <a:cubicBezTo>
                  <a:pt x="101" y="208"/>
                  <a:pt x="80" y="187"/>
                  <a:pt x="80" y="160"/>
                </a:cubicBezTo>
                <a:cubicBezTo>
                  <a:pt x="80" y="133"/>
                  <a:pt x="101" y="112"/>
                  <a:pt x="128" y="112"/>
                </a:cubicBezTo>
                <a:close/>
                <a:moveTo>
                  <a:pt x="272" y="224"/>
                </a:moveTo>
                <a:cubicBezTo>
                  <a:pt x="280" y="224"/>
                  <a:pt x="288" y="228"/>
                  <a:pt x="293" y="236"/>
                </a:cubicBezTo>
                <a:lnTo>
                  <a:pt x="381" y="380"/>
                </a:lnTo>
                <a:cubicBezTo>
                  <a:pt x="385" y="387"/>
                  <a:pt x="385" y="396"/>
                  <a:pt x="381" y="404"/>
                </a:cubicBezTo>
                <a:cubicBezTo>
                  <a:pt x="377" y="411"/>
                  <a:pt x="369" y="416"/>
                  <a:pt x="360" y="416"/>
                </a:cubicBezTo>
                <a:lnTo>
                  <a:pt x="88" y="416"/>
                </a:lnTo>
                <a:cubicBezTo>
                  <a:pt x="79" y="416"/>
                  <a:pt x="71" y="411"/>
                  <a:pt x="67" y="403"/>
                </a:cubicBezTo>
                <a:cubicBezTo>
                  <a:pt x="63" y="395"/>
                  <a:pt x="63" y="386"/>
                  <a:pt x="68" y="378"/>
                </a:cubicBezTo>
                <a:lnTo>
                  <a:pt x="124" y="298"/>
                </a:lnTo>
                <a:cubicBezTo>
                  <a:pt x="129" y="292"/>
                  <a:pt x="136" y="288"/>
                  <a:pt x="144" y="288"/>
                </a:cubicBezTo>
                <a:cubicBezTo>
                  <a:pt x="152" y="288"/>
                  <a:pt x="159" y="292"/>
                  <a:pt x="164" y="298"/>
                </a:cubicBezTo>
                <a:lnTo>
                  <a:pt x="190" y="336"/>
                </a:lnTo>
                <a:lnTo>
                  <a:pt x="252" y="236"/>
                </a:lnTo>
                <a:cubicBezTo>
                  <a:pt x="256" y="229"/>
                  <a:pt x="264" y="224"/>
                  <a:pt x="272" y="22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</p:sp>
      <p:sp>
        <p:nvSpPr>
          <p:cNvPr id="28" name="name-6"/>
          <p:cNvSpPr txBox="1"/>
          <p:nvPr/>
        </p:nvSpPr>
        <p:spPr>
          <a:xfrm>
            <a:off x="17119600" y="123571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装文学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17119600" y="127889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《夏洛的网》的和平气息；《人鼠之间》</a:t>
            </a:r>
            <a:endParaRPr lang="en-US" sz="1300" noProof="1"/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1"/>
          <a:srcRect t="8087" b="29389"/>
          <a:stretch>
            <a:fillRect/>
          </a:stretch>
        </p:blipFill>
        <p:spPr>
          <a:xfrm>
            <a:off x="3403600" y="3238500"/>
            <a:ext cx="3860165" cy="38785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rcRect r="10031"/>
          <a:stretch>
            <a:fillRect/>
          </a:stretch>
        </p:blipFill>
        <p:spPr>
          <a:xfrm>
            <a:off x="10261600" y="3268345"/>
            <a:ext cx="3878580" cy="3856355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3"/>
          <a:srcRect l="8927" r="26464"/>
          <a:stretch>
            <a:fillRect/>
          </a:stretch>
        </p:blipFill>
        <p:spPr>
          <a:xfrm>
            <a:off x="17106900" y="2994660"/>
            <a:ext cx="3888105" cy="411353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50" y="8398510"/>
            <a:ext cx="3879850" cy="3856990"/>
          </a:xfrm>
          <a:prstGeom prst="rect">
            <a:avLst/>
          </a:prstGeom>
        </p:spPr>
      </p:pic>
      <p:pic>
        <p:nvPicPr>
          <p:cNvPr id="120" name="图片 119"/>
          <p:cNvPicPr>
            <a:picLocks noChangeAspect="1"/>
          </p:cNvPicPr>
          <p:nvPr/>
        </p:nvPicPr>
        <p:blipFill>
          <a:blip r:embed="rId5"/>
          <a:srcRect l="2656" t="4345" r="3408" b="5560"/>
          <a:stretch>
            <a:fillRect/>
          </a:stretch>
        </p:blipFill>
        <p:spPr>
          <a:xfrm>
            <a:off x="10249535" y="8390255"/>
            <a:ext cx="3885565" cy="3858260"/>
          </a:xfrm>
          <a:prstGeom prst="rect">
            <a:avLst/>
          </a:prstGeom>
        </p:spPr>
      </p:pic>
      <p:pic>
        <p:nvPicPr>
          <p:cNvPr id="167" name="图片 166"/>
          <p:cNvPicPr>
            <a:picLocks noChangeAspect="1"/>
          </p:cNvPicPr>
          <p:nvPr/>
        </p:nvPicPr>
        <p:blipFill>
          <a:blip r:embed="rId6"/>
          <a:srcRect t="24615" r="6033" b="4784"/>
          <a:stretch>
            <a:fillRect/>
          </a:stretch>
        </p:blipFill>
        <p:spPr>
          <a:xfrm>
            <a:off x="17138015" y="8378190"/>
            <a:ext cx="3856990" cy="3870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ircle-3"/>
          <p:cNvSpPr/>
          <p:nvPr/>
        </p:nvSpPr>
        <p:spPr>
          <a:xfrm>
            <a:off x="17272000" y="7528560"/>
            <a:ext cx="3863340" cy="386334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8" name="circle-2"/>
          <p:cNvSpPr/>
          <p:nvPr/>
        </p:nvSpPr>
        <p:spPr>
          <a:xfrm>
            <a:off x="9126855" y="3029585"/>
            <a:ext cx="4683760" cy="4717415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22" name="circle-1"/>
          <p:cNvSpPr/>
          <p:nvPr/>
        </p:nvSpPr>
        <p:spPr>
          <a:xfrm>
            <a:off x="4147185" y="8256905"/>
            <a:ext cx="4886325" cy="4886325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pic>
        <p:nvPicPr>
          <p:cNvPr id="2" name="bottom-wave"/>
          <p:cNvPicPr/>
          <p:nvPr/>
        </p:nvPicPr>
        <p:blipFill>
          <a:blip r:embed="rId1"/>
          <a:stretch>
            <a:fillRect/>
          </a:stretch>
        </p:blipFill>
        <p:spPr>
          <a:xfrm>
            <a:off x="-387350" y="8872220"/>
            <a:ext cx="25158700" cy="4867910"/>
          </a:xfrm>
          <a:prstGeom prst="rect">
            <a:avLst/>
          </a:prstGeom>
          <a:ln>
            <a:noFill/>
          </a:ln>
        </p:spPr>
      </p:pic>
      <p:sp>
        <p:nvSpPr>
          <p:cNvPr id="3" name="page-kicker"/>
          <p:cNvSpPr txBox="1"/>
          <p:nvPr/>
        </p:nvSpPr>
        <p:spPr>
          <a:xfrm>
            <a:off x="9017000" y="1460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kern="0" spc="24" noProof="1">
                <a:solidFill>
                  <a:srgbClr val="765D4A"/>
                </a:solidFill>
                <a:latin typeface="MiSans" charset="-122"/>
                <a:ea typeface="MiSans" charset="-122"/>
              </a:rPr>
              <a:t>/ 尾厅 /</a:t>
            </a:r>
            <a:endParaRPr lang="en-US" sz="1800" noProof="1"/>
          </a:p>
        </p:txBody>
      </p:sp>
      <p:sp>
        <p:nvSpPr>
          <p:cNvPr id="4" name="page-title"/>
          <p:cNvSpPr txBox="1"/>
          <p:nvPr/>
        </p:nvSpPr>
        <p:spPr>
          <a:xfrm>
            <a:off x="7112000" y="1905000"/>
            <a:ext cx="10160000" cy="165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0" noProof="1">
                <a:solidFill>
                  <a:srgbClr val="393433"/>
                </a:solidFill>
                <a:latin typeface="思源宋体"/>
                <a:ea typeface="思源宋体"/>
              </a:rPr>
              <a:t>收放之间</a:t>
            </a:r>
            <a:endParaRPr lang="en-US" sz="10000" noProof="1"/>
          </a:p>
        </p:txBody>
      </p:sp>
      <p:sp>
        <p:nvSpPr>
          <p:cNvPr id="5" name="circle-1"/>
          <p:cNvSpPr/>
          <p:nvPr/>
        </p:nvSpPr>
        <p:spPr>
          <a:xfrm>
            <a:off x="3949700" y="2382520"/>
            <a:ext cx="2564765" cy="2564765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14" name="name-2"/>
          <p:cNvSpPr txBox="1"/>
          <p:nvPr/>
        </p:nvSpPr>
        <p:spPr>
          <a:xfrm>
            <a:off x="1242060" y="774700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梵高与莫奈的干草堆</a:t>
            </a:r>
            <a:endParaRPr lang="en-US" sz="2000" noProof="1"/>
          </a:p>
        </p:txBody>
      </p:sp>
      <p:sp>
        <p:nvSpPr>
          <p:cNvPr id="15" name="desc-2"/>
          <p:cNvSpPr txBox="1"/>
          <p:nvPr/>
        </p:nvSpPr>
        <p:spPr>
          <a:xfrm>
            <a:off x="1242060" y="817880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梵高《干草垛》1888；莫奈《干草堆》1890—91</a:t>
            </a:r>
            <a:endParaRPr lang="en-US" sz="1300" noProof="1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1360"/>
          <a:stretch>
            <a:fillRect/>
          </a:stretch>
        </p:blipFill>
        <p:spPr>
          <a:xfrm>
            <a:off x="1242060" y="3771900"/>
            <a:ext cx="3906520" cy="3924935"/>
          </a:xfrm>
          <a:prstGeom prst="rect">
            <a:avLst/>
          </a:prstGeom>
        </p:spPr>
      </p:pic>
      <p:sp>
        <p:nvSpPr>
          <p:cNvPr id="18" name="name-1"/>
          <p:cNvSpPr txBox="1"/>
          <p:nvPr/>
        </p:nvSpPr>
        <p:spPr>
          <a:xfrm>
            <a:off x="18754725" y="784352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开仓与共建</a:t>
            </a:r>
            <a:endParaRPr lang="en-US" sz="2000" noProof="1"/>
          </a:p>
        </p:txBody>
      </p:sp>
      <p:sp>
        <p:nvSpPr>
          <p:cNvPr id="19" name="desc-1"/>
          <p:cNvSpPr txBox="1"/>
          <p:nvPr/>
        </p:nvSpPr>
        <p:spPr>
          <a:xfrm>
            <a:off x="18754725" y="827532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北美谷仓共建会：全屯出工，一天立起一座谷仓</a:t>
            </a:r>
            <a:endParaRPr lang="en-US" sz="1300" noProof="1"/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4"/>
          <a:srcRect t="8087" b="29389"/>
          <a:stretch>
            <a:fillRect/>
          </a:stretch>
        </p:blipFill>
        <p:spPr>
          <a:xfrm>
            <a:off x="18754725" y="3868420"/>
            <a:ext cx="3860165" cy="3878580"/>
          </a:xfrm>
          <a:prstGeom prst="rect">
            <a:avLst/>
          </a:prstGeom>
        </p:spPr>
      </p:pic>
      <p:sp>
        <p:nvSpPr>
          <p:cNvPr id="28" name="name-6"/>
          <p:cNvSpPr txBox="1"/>
          <p:nvPr/>
        </p:nvSpPr>
        <p:spPr>
          <a:xfrm>
            <a:off x="6023610" y="11952605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青瓷谷仓罐（魂瓶）</a:t>
            </a:r>
            <a:endParaRPr lang="en-US" sz="2000" noProof="1"/>
          </a:p>
        </p:txBody>
      </p:sp>
      <p:sp>
        <p:nvSpPr>
          <p:cNvPr id="29" name="desc-6"/>
          <p:cNvSpPr txBox="1"/>
          <p:nvPr/>
        </p:nvSpPr>
        <p:spPr>
          <a:xfrm>
            <a:off x="6023610" y="12384405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为逝者构筑的“永恒谷仓”，事死如事生</a:t>
            </a:r>
            <a:endParaRPr lang="en-US" sz="1300" noProof="1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rcRect l="7181" r="6814"/>
          <a:stretch>
            <a:fillRect/>
          </a:stretch>
        </p:blipFill>
        <p:spPr>
          <a:xfrm>
            <a:off x="6023610" y="7977505"/>
            <a:ext cx="3863340" cy="3872865"/>
          </a:xfrm>
          <a:prstGeom prst="rect">
            <a:avLst/>
          </a:prstGeom>
        </p:spPr>
      </p:pic>
      <p:sp>
        <p:nvSpPr>
          <p:cNvPr id="20" name="name-2"/>
          <p:cNvSpPr txBox="1"/>
          <p:nvPr/>
        </p:nvSpPr>
        <p:spPr>
          <a:xfrm>
            <a:off x="11485880" y="9076690"/>
            <a:ext cx="3873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000" b="1" noProof="1">
                <a:solidFill>
                  <a:srgbClr val="393433"/>
                </a:solidFill>
                <a:latin typeface="思源宋体"/>
                <a:ea typeface="思源宋体"/>
              </a:rPr>
              <a:t>米勒《拾穗者》（1857）</a:t>
            </a:r>
            <a:endParaRPr lang="en-US" sz="2000" noProof="1"/>
          </a:p>
        </p:txBody>
      </p:sp>
      <p:sp>
        <p:nvSpPr>
          <p:cNvPr id="21" name="desc-2"/>
          <p:cNvSpPr txBox="1"/>
          <p:nvPr/>
        </p:nvSpPr>
        <p:spPr>
          <a:xfrm>
            <a:off x="11485880" y="9508490"/>
            <a:ext cx="3873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丰盈麦垛反衬佝偻背影，谷仓是分配的无声证人</a:t>
            </a:r>
            <a:endParaRPr lang="en-US" sz="1300" noProof="1"/>
          </a:p>
        </p:txBody>
      </p:sp>
      <p:pic>
        <p:nvPicPr>
          <p:cNvPr id="152" name="图片 151"/>
          <p:cNvPicPr>
            <a:picLocks noChangeAspect="1"/>
          </p:cNvPicPr>
          <p:nvPr/>
        </p:nvPicPr>
        <p:blipFill>
          <a:blip r:embed="rId6"/>
          <a:srcRect l="1601" r="25931"/>
          <a:stretch>
            <a:fillRect/>
          </a:stretch>
        </p:blipFill>
        <p:spPr>
          <a:xfrm>
            <a:off x="11485880" y="5090160"/>
            <a:ext cx="3881120" cy="3898900"/>
          </a:xfrm>
          <a:prstGeom prst="rect">
            <a:avLst/>
          </a:prstGeom>
        </p:spPr>
      </p:pic>
      <p:sp>
        <p:nvSpPr>
          <p:cNvPr id="23" name="page-title"/>
          <p:cNvSpPr txBox="1"/>
          <p:nvPr/>
        </p:nvSpPr>
        <p:spPr>
          <a:xfrm>
            <a:off x="810260" y="24257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noProof="1">
                <a:solidFill>
                  <a:srgbClr val="393433"/>
                </a:solidFill>
                <a:latin typeface="思源宋体"/>
                <a:ea typeface="思源宋体"/>
              </a:rPr>
              <a:t>汇入</a:t>
            </a:r>
            <a:endParaRPr lang="en-US" sz="4800" b="1" noProof="1">
              <a:solidFill>
                <a:srgbClr val="393433"/>
              </a:solidFill>
              <a:latin typeface="思源宋体"/>
              <a:ea typeface="思源宋体"/>
            </a:endParaRPr>
          </a:p>
        </p:txBody>
      </p:sp>
      <p:sp>
        <p:nvSpPr>
          <p:cNvPr id="24" name="page-title"/>
          <p:cNvSpPr txBox="1"/>
          <p:nvPr/>
        </p:nvSpPr>
        <p:spPr>
          <a:xfrm>
            <a:off x="5420360" y="6609715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noProof="1">
                <a:solidFill>
                  <a:srgbClr val="393433"/>
                </a:solidFill>
                <a:latin typeface="思源宋体"/>
                <a:ea typeface="思源宋体"/>
              </a:rPr>
              <a:t>集纳</a:t>
            </a:r>
            <a:endParaRPr lang="en-US" sz="4800" b="1" noProof="1"/>
          </a:p>
        </p:txBody>
      </p:sp>
      <p:sp>
        <p:nvSpPr>
          <p:cNvPr id="25" name="page-title"/>
          <p:cNvSpPr txBox="1"/>
          <p:nvPr/>
        </p:nvSpPr>
        <p:spPr>
          <a:xfrm>
            <a:off x="10886440" y="3771900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noProof="1">
                <a:solidFill>
                  <a:srgbClr val="393433"/>
                </a:solidFill>
                <a:latin typeface="思源宋体"/>
                <a:ea typeface="思源宋体"/>
              </a:rPr>
              <a:t>流出</a:t>
            </a:r>
            <a:endParaRPr lang="en-US" sz="4800" b="1" noProof="1">
              <a:solidFill>
                <a:srgbClr val="393433"/>
              </a:solidFill>
              <a:latin typeface="思源宋体"/>
              <a:ea typeface="思源宋体"/>
            </a:endParaRPr>
          </a:p>
        </p:txBody>
      </p:sp>
      <p:sp>
        <p:nvSpPr>
          <p:cNvPr id="26" name="page-title"/>
          <p:cNvSpPr txBox="1"/>
          <p:nvPr/>
        </p:nvSpPr>
        <p:spPr>
          <a:xfrm>
            <a:off x="18151475" y="2512695"/>
            <a:ext cx="5080000" cy="1346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noProof="1">
                <a:solidFill>
                  <a:srgbClr val="393433"/>
                </a:solidFill>
                <a:latin typeface="思源宋体"/>
                <a:ea typeface="思源宋体"/>
              </a:rPr>
              <a:t>分配</a:t>
            </a:r>
            <a:endParaRPr lang="en-US" sz="4800" b="1" noProof="1">
              <a:solidFill>
                <a:srgbClr val="393433"/>
              </a:solidFill>
              <a:latin typeface="思源宋体"/>
              <a:ea typeface="思源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D5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curve"/>
          <p:cNvPicPr/>
          <p:nvPr/>
        </p:nvPicPr>
        <p:blipFill>
          <a:blip r:embed="rId1"/>
          <a:stretch>
            <a:fillRect/>
          </a:stretch>
        </p:blipFill>
        <p:spPr>
          <a:xfrm rot="10800000">
            <a:off x="815340" y="-213360"/>
            <a:ext cx="23459440" cy="14142720"/>
          </a:xfrm>
          <a:prstGeom prst="rect">
            <a:avLst/>
          </a:prstGeom>
          <a:ln>
            <a:noFill/>
          </a:ln>
        </p:spPr>
      </p:pic>
      <p:sp>
        <p:nvSpPr>
          <p:cNvPr id="3" name="circle-deco"/>
          <p:cNvSpPr/>
          <p:nvPr/>
        </p:nvSpPr>
        <p:spPr>
          <a:xfrm>
            <a:off x="1709420" y="8872220"/>
            <a:ext cx="2296160" cy="2296160"/>
          </a:xfrm>
          <a:prstGeom prst="ellipse">
            <a:avLst/>
          </a:prstGeom>
          <a:solidFill>
            <a:srgbClr val="E8BF6A">
              <a:alpha val="85098"/>
            </a:srgbClr>
          </a:solidFill>
          <a:ln>
            <a:noFill/>
          </a:ln>
        </p:spPr>
      </p:sp>
      <p:sp>
        <p:nvSpPr>
          <p:cNvPr id="4" name="end-title"/>
          <p:cNvSpPr txBox="1"/>
          <p:nvPr/>
        </p:nvSpPr>
        <p:spPr>
          <a:xfrm>
            <a:off x="2513330" y="6921500"/>
            <a:ext cx="15240000" cy="203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1000" noProof="1">
                <a:solidFill>
                  <a:srgbClr val="393433"/>
                </a:solidFill>
                <a:latin typeface="思源宋体"/>
                <a:ea typeface="思源宋体"/>
              </a:rPr>
              <a:t>积贮，收放之间。</a:t>
            </a:r>
            <a:endParaRPr lang="en-US" sz="11000" noProof="1"/>
          </a:p>
        </p:txBody>
      </p:sp>
      <p:sp>
        <p:nvSpPr>
          <p:cNvPr id="5" name="end-note"/>
          <p:cNvSpPr txBox="1"/>
          <p:nvPr/>
        </p:nvSpPr>
        <p:spPr>
          <a:xfrm>
            <a:off x="2715260" y="9398000"/>
            <a:ext cx="13335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noProof="1">
                <a:solidFill>
                  <a:srgbClr val="765D4A"/>
                </a:solidFill>
                <a:latin typeface="MiSans" charset="-122"/>
                <a:ea typeface="MiSans" charset="-122"/>
              </a:rPr>
              <a:t>一颗谷子进仓，是为了有一天出来。人也一样——收，是为了放。谷仓永远是一个有形的壳，而真正被藏住又放出来的，是人和粮食打了五千年交道的心思。</a:t>
            </a:r>
            <a:endParaRPr lang="en-US" sz="1800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4,&quot;left&quot;:63.55,&quot;top&quot;:184,&quot;width&quot;:832.45}"/>
</p:tagLst>
</file>

<file path=ppt/tags/tag2.xml><?xml version="1.0" encoding="utf-8"?>
<p:tagLst xmlns:p="http://schemas.openxmlformats.org/presentationml/2006/main">
  <p:tag name="KSO_WM_DIAGRAM_VIRTUALLY_FRAME" val="{&quot;height&quot;:254,&quot;left&quot;:63.55,&quot;top&quot;:184,&quot;width&quot;:832.45}"/>
</p:tagLst>
</file>

<file path=ppt/tags/tag3.xml><?xml version="1.0" encoding="utf-8"?>
<p:tagLst xmlns:p="http://schemas.openxmlformats.org/presentationml/2006/main">
  <p:tag name="KSO_WM_DIAGRAM_VIRTUALLY_FRAME" val="{&quot;height&quot;:254,&quot;left&quot;:63.55,&quot;top&quot;:184,&quot;width&quot;:832.45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2425</Words>
  <Application>WPS 演示</Application>
  <PresentationFormat/>
  <Paragraphs>366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思源宋体</vt:lpstr>
      <vt:lpstr>MiSans</vt:lpstr>
      <vt:lpstr>Quattrocento Sans</vt:lpstr>
      <vt:lpstr>微软雅黑</vt:lpstr>
      <vt:lpstr>Arial Unicode MS</vt:lpstr>
      <vt:lpstr>Calibri</vt:lpstr>
      <vt:lpstr>Quattrocento Sans</vt:lpstr>
      <vt:lpstr>思源宋体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积贮——谷仓叙事路线</dc:title>
  <dc:creator/>
  <cp:lastModifiedBy>解培硕</cp:lastModifiedBy>
  <cp:revision>2</cp:revision>
  <dcterms:created xsi:type="dcterms:W3CDTF">2026-09-19T21:10:00Z</dcterms:created>
  <dcterms:modified xsi:type="dcterms:W3CDTF">2026-09-20T03:05:20Z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2052-12.1.0.28043</vt:lpwstr>
  </property>
  <property fmtid="{D5CDD505-2E9C-101B-9397-08002B2CF9AE}" pid="4" name="ICV">
    <vt:lpwstr>3D38670F2C024237BA8EE6B7A33AF3B1_12</vt:lpwstr>
  </property>
</Properties>
</file>